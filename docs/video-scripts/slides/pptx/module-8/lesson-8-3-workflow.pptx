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8229600"/>
          </a:xfrm>
          <a:prstGeom prst="rect">
            <a:avLst/>
          </a:prstGeom>
          <a:solidFill>
            <a:srgbClr val="2B6E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95528" y="2011680"/>
            <a:ext cx="926287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2B6E2B"/>
                </a:solidFill>
                <a:latin typeface="Inter"/>
              </a:rPr>
              <a:t>LESSON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5528" y="2468880"/>
            <a:ext cx="9262872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5400" b="1" i="0">
                <a:solidFill>
                  <a:srgbClr val="030303"/>
                </a:solidFill>
                <a:latin typeface="Petrona"/>
              </a:rPr>
              <a:t>Your Personal AI 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8" y="4754880"/>
            <a:ext cx="9262872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200" b="0" i="0">
                <a:solidFill>
                  <a:srgbClr val="272525"/>
                </a:solidFill>
                <a:latin typeface="Inter"/>
              </a:rPr>
              <a:t>Tool for tool. Risk for risk. Habit for habit.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5528" y="740664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2B6E2B"/>
                </a:solidFill>
                <a:latin typeface="Inter"/>
              </a:rPr>
              <a:t>CASHMAN  ·  AI TRAINING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95528" y="822960"/>
            <a:ext cx="926287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2B6E2B"/>
                </a:solidFill>
                <a:latin typeface="Inter"/>
              </a:rPr>
              <a:t>DECISION TREE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95528" y="1280160"/>
            <a:ext cx="9262872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4200" b="1" i="0">
                <a:solidFill>
                  <a:srgbClr val="030303"/>
                </a:solidFill>
                <a:latin typeface="Petrona"/>
              </a:rPr>
              <a:t>Five questions. Always know the tool.</a:t>
            </a:r>
          </a:p>
        </p:txBody>
      </p:sp>
      <p:sp>
        <p:nvSpPr>
          <p:cNvPr id="4" name="Rectangle 3"/>
          <p:cNvSpPr/>
          <p:nvPr/>
        </p:nvSpPr>
        <p:spPr>
          <a:xfrm>
            <a:off x="795528" y="2926080"/>
            <a:ext cx="731520" cy="54864"/>
          </a:xfrm>
          <a:prstGeom prst="rect">
            <a:avLst/>
          </a:prstGeom>
          <a:solidFill>
            <a:srgbClr val="2B6E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5528" y="3383280"/>
            <a:ext cx="9262872" cy="411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200" b="0" i="0">
                <a:solidFill>
                  <a:srgbClr val="272525"/>
                </a:solidFill>
                <a:latin typeface="Inter"/>
              </a:rPr>
              <a:t>1.  Company data?  →  Cashman AI Portal</a:t>
            </a:r>
          </a:p>
          <a:p>
            <a:pPr algn="l">
              <a:lnSpc>
                <a:spcPct val="145000"/>
              </a:lnSpc>
            </a:pPr>
            <a:r>
              <a:rPr sz="2200" b="0" i="0">
                <a:solidFill>
                  <a:srgbClr val="272525"/>
                </a:solidFill>
                <a:latin typeface="Inter"/>
              </a:rPr>
              <a:t>2.  Office work?    →  Microsoft Copilot</a:t>
            </a:r>
          </a:p>
          <a:p>
            <a:pPr algn="l">
              <a:lnSpc>
                <a:spcPct val="145000"/>
              </a:lnSpc>
            </a:pPr>
            <a:r>
              <a:rPr sz="2200" b="0" i="0">
                <a:solidFill>
                  <a:srgbClr val="272525"/>
                </a:solidFill>
                <a:latin typeface="Inter"/>
              </a:rPr>
              <a:t>3.  Deep analysis?  →  Claude Cowork</a:t>
            </a:r>
          </a:p>
          <a:p>
            <a:pPr algn="l">
              <a:lnSpc>
                <a:spcPct val="145000"/>
              </a:lnSpc>
            </a:pPr>
            <a:r>
              <a:rPr sz="2200" b="0" i="0">
                <a:solidFill>
                  <a:srgbClr val="272525"/>
                </a:solidFill>
                <a:latin typeface="Inter"/>
              </a:rPr>
              <a:t>4.  Automation?     →  Claude Code</a:t>
            </a:r>
          </a:p>
          <a:p>
            <a:pPr algn="l">
              <a:lnSpc>
                <a:spcPct val="145000"/>
              </a:lnSpc>
            </a:pPr>
            <a:r>
              <a:rPr sz="2200" b="0" i="0">
                <a:solidFill>
                  <a:srgbClr val="272525"/>
                </a:solidFill>
                <a:latin typeface="Inter"/>
              </a:rPr>
              <a:t>5.  General?        →  Any tool (incl. ChatGPT, non-sensitive only)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95528" y="822960"/>
            <a:ext cx="926287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2B6E2B"/>
                </a:solidFill>
                <a:latin typeface="Inter"/>
              </a:rPr>
              <a:t>THE CHEAT SHEET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95528" y="1280160"/>
            <a:ext cx="9262872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4200" b="1" i="0">
                <a:solidFill>
                  <a:srgbClr val="030303"/>
                </a:solidFill>
                <a:latin typeface="Petrona"/>
              </a:rPr>
              <a:t>Six risks. Six defenses.</a:t>
            </a:r>
          </a:p>
        </p:txBody>
      </p:sp>
      <p:sp>
        <p:nvSpPr>
          <p:cNvPr id="4" name="Rectangle 3"/>
          <p:cNvSpPr/>
          <p:nvPr/>
        </p:nvSpPr>
        <p:spPr>
          <a:xfrm>
            <a:off x="795528" y="3840480"/>
            <a:ext cx="9262872" cy="2377440"/>
          </a:xfrm>
          <a:prstGeom prst="rect">
            <a:avLst/>
          </a:prstGeom>
          <a:solidFill>
            <a:srgbClr val="C8E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58952" y="3840480"/>
            <a:ext cx="118872" cy="2377440"/>
          </a:xfrm>
          <a:prstGeom prst="rect">
            <a:avLst/>
          </a:prstGeom>
          <a:solidFill>
            <a:srgbClr val="2B6E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61288" y="4160520"/>
            <a:ext cx="8531352" cy="1737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 i="0">
                <a:solidFill>
                  <a:srgbClr val="030303"/>
                </a:solidFill>
                <a:latin typeface="Petrona"/>
              </a:rPr>
              <a:t>Hallucination · Prompt Injection · Wrong Formulas · Deepfakes · Data Leakage · Agent Over-Trust.</a:t>
            </a:r>
          </a:p>
          <a:p>
            <a:pPr algn="l">
              <a:lnSpc>
                <a:spcPct val="125000"/>
              </a:lnSpc>
            </a:pPr>
            <a:r>
              <a:rPr sz="2600" b="1" i="0">
                <a:solidFill>
                  <a:srgbClr val="030303"/>
                </a:solidFill>
                <a:latin typeface="Petrona"/>
              </a:rPr>
              <a:t>Verify. Verify. Verify.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