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822960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528" y="201168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1" i="0">
                <a:solidFill>
                  <a:srgbClr val="2B6E2B"/>
                </a:solidFill>
                <a:latin typeface="Inter"/>
              </a:rPr>
              <a:t>LESSON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528" y="246888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5400" b="1" i="0">
                <a:solidFill>
                  <a:srgbClr val="030303"/>
                </a:solidFill>
                <a:latin typeface="Petrona"/>
              </a:rPr>
              <a:t>Extracting Structured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4754880"/>
            <a:ext cx="9262872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Wall of text in. Action-ready table out.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528" y="7406640"/>
            <a:ext cx="5486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 b="1" i="0">
                <a:solidFill>
                  <a:srgbClr val="2B6E2B"/>
                </a:solidFill>
                <a:latin typeface="Inter"/>
              </a:rPr>
              <a:t>CASHMAN  ·  AI TRAINING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PROMPT PATTERN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Source · Fields · Structure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2926080"/>
            <a:ext cx="731520" cy="54864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5528" y="3383280"/>
            <a:ext cx="9262872" cy="411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Source     — "here's a paragraph from a project spec"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Fields     — "extract every distinct requirement"</a:t>
            </a:r>
          </a:p>
          <a:p>
            <a:pPr algn="l">
              <a:lnSpc>
                <a:spcPct val="145000"/>
              </a:lnSpc>
            </a:pPr>
            <a:r>
              <a:rPr sz="2200" b="0" i="0">
                <a:solidFill>
                  <a:srgbClr val="272525"/>
                </a:solidFill>
                <a:latin typeface="Inter"/>
              </a:rPr>
              <a:t>•  Structure  — "Requirement, Category, Deadline, Priority"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D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95528" y="822960"/>
            <a:ext cx="926287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2B6E2B"/>
                </a:solidFill>
                <a:latin typeface="Inter"/>
              </a:rPr>
              <a:t>AUDIT HABIT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95528" y="1280160"/>
            <a:ext cx="9262872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200" b="1" i="0">
                <a:solidFill>
                  <a:srgbClr val="030303"/>
                </a:solidFill>
                <a:latin typeface="Petrona"/>
              </a:rPr>
              <a:t>Count the source.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795528" y="3840480"/>
            <a:ext cx="9262872" cy="2377440"/>
          </a:xfrm>
          <a:prstGeom prst="rect">
            <a:avLst/>
          </a:prstGeom>
          <a:solidFill>
            <a:srgbClr val="C8E9C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58952" y="3840480"/>
            <a:ext cx="118872" cy="2377440"/>
          </a:xfrm>
          <a:prstGeom prst="rect">
            <a:avLst/>
          </a:prstGeom>
          <a:solidFill>
            <a:srgbClr val="2B6E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61288" y="4160520"/>
            <a:ext cx="8531352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If the source has 9 requirements and AI extracted 7,</a:t>
            </a:r>
          </a:p>
          <a:p>
            <a:pPr algn="l">
              <a:lnSpc>
                <a:spcPct val="125000"/>
              </a:lnSpc>
            </a:pPr>
            <a:r>
              <a:rPr sz="2600" b="1" i="0">
                <a:solidFill>
                  <a:srgbClr val="030303"/>
                </a:solidFill>
                <a:latin typeface="Petrona"/>
              </a:rPr>
              <a:t>you've got a gap. Ask: "Did you miss anything?"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