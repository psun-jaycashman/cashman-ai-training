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4630400" cy="82296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20040" cy="822960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95528" y="201168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2B6E2B"/>
                </a:solidFill>
                <a:latin typeface="Inter"/>
              </a:rPr>
              <a:t>LESSON 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95528" y="246888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1">
                <a:solidFill>
                  <a:srgbClr val="030303"/>
                </a:solidFill>
                <a:latin typeface="Petrona"/>
              </a:rPr>
              <a:t>Video, Audio, Transcription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8" y="4754880"/>
            <a:ext cx="9262872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Meetings document themselves now.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5528" y="740664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2B6E2B"/>
                </a:solidFill>
                <a:latin typeface="Inter"/>
              </a:rPr>
              <a:t>CASHMAN  ·  AI TRAINING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WHAT'S POSSIBLE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Transcribe · Summarize · Follow up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2926080"/>
            <a:ext cx="731520" cy="54864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5528" y="3383280"/>
            <a:ext cx="9262872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Auto-transcription with speaker diarization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AI-generated summary, action items, draft email</a:t>
            </a:r>
          </a:p>
          <a:p>
            <a:pPr algn="l">
              <a:lnSpc>
                <a:spcPct val="145000"/>
              </a:lnSpc>
            </a:pPr>
            <a:r>
              <a:rPr sz="2200" b="0">
                <a:solidFill>
                  <a:srgbClr val="272525"/>
                </a:solidFill>
                <a:latin typeface="Inter"/>
              </a:rPr>
              <a:t>•  And: voice cloning + synthetic video are real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95528" y="822960"/>
            <a:ext cx="92628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2B6E2B"/>
                </a:solidFill>
                <a:latin typeface="Inter"/>
              </a:rPr>
              <a:t>THE DEFENSE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95528" y="1280160"/>
            <a:ext cx="9262872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200" b="1">
                <a:solidFill>
                  <a:srgbClr val="030303"/>
                </a:solidFill>
                <a:latin typeface="Petrona"/>
              </a:rPr>
              <a:t>Verify through a separate channel.</a:t>
            </a:r>
          </a:p>
        </p:txBody>
      </p:sp>
      <p:sp>
        <p:nvSpPr>
          <p:cNvPr id="4" name="Rectangle 3"/>
          <p:cNvSpPr/>
          <p:nvPr/>
        </p:nvSpPr>
        <p:spPr>
          <a:xfrm>
            <a:off x="795528" y="3840480"/>
            <a:ext cx="9262872" cy="2377440"/>
          </a:xfrm>
          <a:prstGeom prst="rect">
            <a:avLst/>
          </a:prstGeom>
          <a:solidFill>
            <a:srgbClr val="C8E9C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58952" y="3840480"/>
            <a:ext cx="118872" cy="2377440"/>
          </a:xfrm>
          <a:prstGeom prst="rect">
            <a:avLst/>
          </a:prstGeom>
          <a:solidFill>
            <a:srgbClr val="2B6E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61288" y="4160520"/>
            <a:ext cx="8531352" cy="17373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Unusual financial or legal request by voicemail or email?</a:t>
            </a:r>
          </a:p>
          <a:p>
            <a:pPr algn="l">
              <a:lnSpc>
                <a:spcPct val="125000"/>
              </a:lnSpc>
            </a:pPr>
            <a:r>
              <a:rPr sz="2600" b="1">
                <a:solidFill>
                  <a:srgbClr val="030303"/>
                </a:solidFill>
                <a:latin typeface="Petrona"/>
              </a:rPr>
              <a:t>Call them back on a phone number you already have.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